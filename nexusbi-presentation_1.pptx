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jpg"/><Relationship Id="rId3" Type="http://schemas.openxmlformats.org/officeDocument/2006/relationships/image" Target="../media/image-2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image" Target="../media/image-2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image" Target="../media/image-26-3.jpg"/><Relationship Id="rId4" Type="http://schemas.openxmlformats.org/officeDocument/2006/relationships/image" Target="../media/image-26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image" Target="../media/image-27-3.jpg"/><Relationship Id="rId4" Type="http://schemas.openxmlformats.org/officeDocument/2006/relationships/image" Target="../media/image-2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28-2.jpg"/><Relationship Id="rId3" Type="http://schemas.openxmlformats.org/officeDocument/2006/relationships/image" Target="../media/image-28-3.jpg"/><Relationship Id="rId4" Type="http://schemas.openxmlformats.org/officeDocument/2006/relationships/image" Target="../media/image-2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6.0 · Enterprise Edition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
</a:t>
            </a:r>
            <a:pPr indent="0" marL="0">
              <a:buNone/>
            </a:pPr>
            <a:r>
              <a:rPr lang="en-US" sz="4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</a:t>
            </a:r>
            <a:pPr indent="0" marL="0">
              <a:buNone/>
            </a:pPr>
            <a:r>
              <a:rPr lang="en-US" sz="4400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trust.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91440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703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Tableau + dbt + Looker + Alation in one self-hosted platform.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 system. Dual-checker approval. Oracle-native.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736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74520" y="4736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4736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4434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47365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THE NUMBERS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 in numbers that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shipped.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8308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199339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15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TypeScript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87168" y="178308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87168" y="1783080"/>
            <a:ext cx="1993392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24328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Connectors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24328" y="2715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→ ClickHouse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08576" y="178308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783080"/>
            <a:ext cx="1993392" cy="548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4745736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745736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Tables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45736" y="2715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FK constraints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29984" y="178308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4" y="1783080"/>
            <a:ext cx="1993392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6867144" y="1947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867144" y="24963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67144" y="27157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client enforced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00400"/>
            <a:ext cx="1993392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02920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Tables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equivalents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487168" y="320040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87168" y="3200400"/>
            <a:ext cx="1993392" cy="5486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6" name="Text 34"/>
          <p:cNvSpPr/>
          <p:nvPr/>
        </p:nvSpPr>
        <p:spPr>
          <a:xfrm>
            <a:off x="2624328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200" dirty="0"/>
          </a:p>
        </p:txBody>
      </p:sp>
      <p:sp>
        <p:nvSpPr>
          <p:cNvPr id="37" name="Text 35"/>
          <p:cNvSpPr/>
          <p:nvPr/>
        </p:nvSpPr>
        <p:spPr>
          <a:xfrm>
            <a:off x="2624328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24328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08576" y="320040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3200400"/>
            <a:ext cx="1993392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1" name="Text 39"/>
          <p:cNvSpPr/>
          <p:nvPr/>
        </p:nvSpPr>
        <p:spPr>
          <a:xfrm>
            <a:off x="4745736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4745736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45736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Embed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729984" y="3200400"/>
            <a:ext cx="1993392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9984" y="3200400"/>
            <a:ext cx="1993392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6" name="Text 44"/>
          <p:cNvSpPr/>
          <p:nvPr/>
        </p:nvSpPr>
        <p:spPr>
          <a:xfrm>
            <a:off x="6867144" y="33649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6867144" y="39136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67144" y="4133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laws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enterprise has 5 BI tools.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cooperate.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stack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08483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$420K/year on Tableau + dbt + Looker + Alation + homegrown approval scripts that nobody owns.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approval workflow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791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publish. No dual-checker. No replay. SOX auditors are unhappy.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everywhere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7355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YAML files. Connection strings pasted in Jira. Secrets rotation is theoretical.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mystery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86791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dashboard is slow. Which widget? Which query? What pre-agg? You don't know.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06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05840" y="4206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is a second product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44622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auth, different UI, different bug tracker. The vendor charges per embedded user.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One license.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sprawl.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connectors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7452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7452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Cube.js semantic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184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Walker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0916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editor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Dual-checker 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2011680"/>
            <a:ext cx="1325880" cy="1554480"/>
          </a:xfrm>
          <a:prstGeom prst="rect">
            <a:avLst/>
          </a:prstGeom>
          <a:solidFill>
            <a:srgbClr val="F8FAFC"/>
          </a:solidFill>
          <a:ln w="19050">
            <a:solidFill>
              <a:srgbClr val="BE185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543800" y="23774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543800" y="28346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export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840480"/>
            <a:ext cx="54864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9502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approved dashboard in one stack — no Tableau, no Looker, no separate workflow tool, no embed product.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stack. Every call traced.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691640"/>
            <a:ext cx="84124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45720" cy="65836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2821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TIER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192938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Next.js 15 App Router · Zustand · TanStack Query · React Grid Layout · ECharts 5 · AG-Grid · Graphic Walker · Monaco Editor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1929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 / WSS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23160"/>
            <a:ext cx="45720" cy="65836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59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TIER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266090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Next.js Route Handlers · NextAuth v5 (JWT sessions) · Zod validation · RBAC middleware · Audit logger · withAudit wrapper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6609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→ Oracle thin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54680"/>
            <a:ext cx="45720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912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TIER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39242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Cube.js 0.36 · 16 database drivers · Dynamic driverFactory · repositoryFactory (Oracle-backed) · Pre-aggregation engine · Query cache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33924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(internal)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86200"/>
            <a:ext cx="45720" cy="65836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9227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TIER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41239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19c+ · 41 tables · CLOB for JSON · NB_STG_* staging tables (replaces DuckDB) · In-memory LRU cache · Local FS storage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6520" y="41239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1521 (Oracle Net)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2377440"/>
            <a:ext cx="164592" cy="4572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34840" y="3108960"/>
            <a:ext cx="164592" cy="4572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434840" y="3840480"/>
            <a:ext cx="164592" cy="45720"/>
          </a:xfrm>
          <a:prstGeom prst="down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architectural invariants enforced at compile time and runtime: ORG_ID scoping on every query · No credential in logs · bcrypt 12 rounds · AES-256-GCM at rest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FLOW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connection to rendered widget.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connectors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AES-256-GCM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CUBE.JS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752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 layer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4340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10K LRU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60+ endpoints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95160" y="1691640"/>
            <a:ext cx="1188720" cy="86868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1783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9516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+ viewer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554480" y="2075688"/>
            <a:ext cx="137160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2075688"/>
            <a:ext cx="137160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2075688"/>
            <a:ext cx="137160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32120" y="2075688"/>
            <a:ext cx="137160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2075688"/>
            <a:ext cx="137160" cy="9144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926080"/>
            <a:ext cx="84124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2926080"/>
            <a:ext cx="45720" cy="38404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29626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 PIPELINE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3118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(CSV/Excel/Parquet/JSON) → CREATE TABLE NB_STG_&lt;id&gt; in Oracle → batch INSERT → Cube schema auto-generation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383280"/>
            <a:ext cx="84124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383280"/>
            <a:ext cx="45720" cy="3840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4198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SOURCE PIPELINE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2920" y="35753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poll / GraphQL / Webhook / OAuth → JMESPath transform → Oracle staging table NB_STG_API_&lt;id&gt; → dashboard binding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65760" y="3840480"/>
            <a:ext cx="84124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3840480"/>
            <a:ext cx="45720" cy="38404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38770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PIPELINE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40325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Puppeteer render (1920×1080 @2x) → PNG/PDF binary → download or SMTP email attachment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4297680"/>
            <a:ext cx="841248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297680"/>
            <a:ext cx="4572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33425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WEBHOOK PIPELINE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" y="44897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event → JWT-signed payload → HTTP POST → 3 retries with exponential backoff → NB_WEBHOOK_DELIVERY_LOG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ARCHITECTURE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Governance-first by design.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69164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45720" cy="3017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GOVERNANCE MODEL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Isolation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scoped by ORG_ID. Oracle FK constraints across all 41 tables.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Vault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at rest. Decrypted only server-side in driverFactory. Never logged.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→ NB_AUDIT_LOG. SOC 2 / ISO 27001 ready.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→ CubeSchema → Dashboard → Widget. Queryable for impact analysis.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411480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691640"/>
            <a:ext cx="45720" cy="30175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&amp; ACCESS MODEL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Dual-Checker Workflow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304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PENDING → SLOT 1 ✓ → SLOT 2 ✓ → APPROVED. Self-approval blocked.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27432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6-Role RBAC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9443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PLATFORM_ADMIN (46) → DS_ADMIN (18) → AUTHOR (27) → CHECKER (6) → VIEWER (5) → EMBED_ONLY (1).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33832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Restrictions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5844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sees ONLY explicitly shared dashboards. No "all approved" fallback.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Security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2245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JWT-signed tokens. Per-dashboard filter restrictions. Row-level security via Cube.js.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 WORKFLOW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that cleared compliance.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8308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11680" y="178308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FFFBE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78308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1 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178308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F5F3FF"/>
          </a:solidFill>
          <a:ln w="1905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2 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783080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905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8745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801368" y="1993392"/>
            <a:ext cx="182880" cy="1371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47288" y="1993392"/>
            <a:ext cx="182880" cy="1371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93208" y="1993392"/>
            <a:ext cx="182880" cy="1371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39128" y="1993392"/>
            <a:ext cx="182880" cy="13716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331720"/>
            <a:ext cx="0" cy="228600"/>
          </a:xfrm>
          <a:prstGeom prst="line">
            <a:avLst/>
          </a:prstGeom>
          <a:noFill/>
          <a:ln w="12700">
            <a:solidFill>
              <a:srgbClr val="BE185D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00400" y="2606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E185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 → REJECTED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880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→ resets to DRAFT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5204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5204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checker IDs required for dual-checker dashboards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7216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3721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Self-approval blocked at API layer (returns 403)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9227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922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requires mandatory comments (returns 422 if empty)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1239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41239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captured on APPROVED state transition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3251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3251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subsequent edit resets approval_status to DRAFT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526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webhook fires on every APPROVE / REJECT / SUBMIT event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roles. 46 permissions. Zero ambiguity.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132588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308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1783080"/>
            <a:ext cx="1325880" cy="5486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187452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452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187452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783080"/>
            <a:ext cx="1325880" cy="54864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29184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783080"/>
            <a:ext cx="132588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470916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783080"/>
            <a:ext cx="1325880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2648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612648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52360" y="1783080"/>
            <a:ext cx="13258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52360" y="1783080"/>
            <a:ext cx="1325880" cy="54864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36" name="Text 34"/>
          <p:cNvSpPr/>
          <p:nvPr/>
        </p:nvSpPr>
        <p:spPr>
          <a:xfrm>
            <a:off x="7543800" y="192024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43800" y="242316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38" name="Text 36"/>
          <p:cNvSpPr/>
          <p:nvPr/>
        </p:nvSpPr>
        <p:spPr>
          <a:xfrm>
            <a:off x="7543800" y="31546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3794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 CATEGORIES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datasource (4)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05740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schema (3)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explorer (1)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4068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dashboard (10)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32320" y="40690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workbook (5)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story (3)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5740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lineage (1)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74904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tableau (1)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4068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audit (1)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32320" y="4251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admin (3)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webhook (1)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05740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preagg (1)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4904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template (3)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4068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file (1)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32320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api_source (1)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617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perf (1)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057400" y="4617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report (1)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49040" y="4617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embed (1)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440680" y="4617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replay (1)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132320" y="46177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share (1)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REPLACEMENT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system with full feature parity.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841248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0" y="178308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NEXUSBI EQUIVALENT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066544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84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(.twbx)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08483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0848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042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(chart sheet)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3042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60520" y="23042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05456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237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52374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25237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40480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2743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944368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96265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29626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296265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+ Story Points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1821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0" y="31821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60520" y="31821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83280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015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/ Groups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0" y="34015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60520" y="34015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 / Data Group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62102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6210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62102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 → Oracle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22192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840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card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3840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60520" y="3840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Shelves (color/size/label/tooltip)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Pages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40480" y="40599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160520" y="405993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WorksheetFilter[] (include/exclude/range/top_n)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261104"/>
            <a:ext cx="84124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793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840480" y="4279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60520" y="42793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ReferenceLine[]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4498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840480" y="44988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60520" y="44988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Annotation[]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WORKBOOK → DASHBOARD 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Maker takes work to production.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54864" cy="502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79222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17830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creates workbook in /workbooks. Adds 1+ worksheets with chart type, cube, shelves.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04288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04288"/>
            <a:ext cx="54864" cy="5029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59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235000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calculated fields (custom SQL) and parameters (user-input variables) per workbook.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71216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71216"/>
            <a:ext cx="54864" cy="502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26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Publish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03120" y="2916936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/api/workbooks/{id}/publish creates a DRAFT dashboard with widgets from each worksheet.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438144"/>
            <a:ext cx="54864" cy="5029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493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03120" y="3483864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submits dashboard for review. Approval status becomes PENDING_REVIEW.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05072"/>
            <a:ext cx="8412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05072"/>
            <a:ext cx="54864" cy="5029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5993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Approve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03120" y="40507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CHECKERs (or one if not dual-checker) approve. Status becomes APPROVED. Visible to shared VIEWERs only.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Oracle tables. Grouped by domain.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83080"/>
            <a:ext cx="84124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83080"/>
            <a:ext cx="54864" cy="530352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379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&amp; ACCESS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183794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NB_USERS · NB_ORGANIZATIONS · NB_ROLES · NB_PERMISSIONS · NB_USER_ROLES · NB_ROLE_PERMISSIONS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84124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77440"/>
            <a:ext cx="54864" cy="5303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4323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26700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243230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NB_DATA_SOURCES · NB_API_SOURCES · NB_FILE_UPLOADS · NB_CUBE_SCHEMAS · NB_COLUMN_TAGS · NB_LINEAGE_EDGES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84124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71800"/>
            <a:ext cx="54864" cy="53035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266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DASHBOARDS &amp; APPROVAL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264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77440" y="302666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NB_DASHBOARDS · NB_DASHBOARD_VERSIONS · NB_DASHBOARD_REVIEWS · NB_REVIEW_ASSIGNMENTS · NB_DASHBOARD_SHARES · NB_APPROVAL_SNAPSHOTS · NB_REJECTION_REASONS · NB_NL_FILTER_HISTORY · NB_MOBILE_LAYOUTS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566160"/>
            <a:ext cx="54864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21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WORKBOOK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385876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0" y="362102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NB_WORKBOOKS · NB_WORKSHEETS · NB_CALCULATED_FIELDS · NB_PARAMETERS · NB_STORIES · NB_STORY_POINTS · NB_DASHBOARD_ACTIONS · NB_DATA_EXTRACTS · NB_DATA_SETS · NB_DATA_GROUPS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53035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160520"/>
            <a:ext cx="54864" cy="530352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2153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45312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tables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4215384"/>
            <a:ext cx="630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NB_AUDIT_LOG · NB_WEBHOOK_DELIVERY_LOG · NB_PERFORMANCE_METRICS · NB_PRE_AGGREGATIONS · NB_TIMED_ACCESS_GRANTS · NB_PLATFORM_CONFIG · NB_TEMPLATES · NB_REPORTS · NB_REPORT_DELIVERIES · NB_TABLEAU_IMPORTS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CONNECTORS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query layer. All connectors → Cube.js.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8412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54864" cy="5486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(5)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4825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MySQL · Microsoft SQL Server · Oracle · SQLite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8412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77440"/>
            <a:ext cx="54864" cy="5486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505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Warehouse (4)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68833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BigQuery · Redshift · Databricks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8412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17520"/>
            <a:ext cx="54864" cy="5486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906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&amp; Lakehouse (8)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32841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· Hive · Spark SQL · Impala · Presto · Trino · ClickHouse · MongoDB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57600"/>
            <a:ext cx="54864" cy="548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30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Sources (4)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9684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· Excel · Parquet · JSON · all → Oracle staging tables (NB_STG_*)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97680"/>
            <a:ext cx="54864" cy="54864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70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Sources (5)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60857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polling · GraphQL · Webhook ingest · OAuth REST · DuckDB-compat (now Oracle)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 POSTURE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regulated industries.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BE185D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41148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54864" cy="14173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21214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at rest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12 rounds for passwords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production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logs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737360"/>
            <a:ext cx="41148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737360"/>
            <a:ext cx="54864" cy="14173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28032" y="212140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v5 + JWT sessions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validation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HTTP-only secure cookies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rotation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41148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91840"/>
            <a:ext cx="54864" cy="141732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Compliance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3675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endpoint audited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payloads (PII redacted)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+ IP + status captured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/ ISO 27001 ready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291840"/>
            <a:ext cx="4114800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3291840"/>
            <a:ext cx="54864" cy="141732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828032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28032" y="367588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ORG_ID scoping on every query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via Cube.js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datasource ACLs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share gates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by default. Transparent when not.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199339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287ms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Widget Load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87168" y="1737360"/>
            <a:ext cx="199339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1,240ms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24328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Widget Load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08576" y="1737360"/>
            <a:ext cx="199339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45736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9984" y="1737360"/>
            <a:ext cx="1993392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67144" y="2286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80360"/>
            <a:ext cx="8412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718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OPTIMIZATION CASE STUDY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46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2.1s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· P95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926080" y="3611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Applied pre-aggregation 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2608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refresh: 0 2 * * * (daily 2am)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2461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315ms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40080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improvement · 6.7× faster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DIFFERENTIATORS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no other BI tool does well.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Replay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Snapshot-based read-only replay of every approved version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73736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Scorecard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P50/P95/P99 per widget with pre-agg recommendations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73736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44768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Layout Editor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44768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375px editor with auto-generate from desktop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880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Filters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→ CubeFilter[] with confidence scoring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78892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880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Refresh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1012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heatmap → cron generation for pre-aggregations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78892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28803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3063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Webhooks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44768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JWT-signed · 3 retries · exponential backoff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Marketplace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Publish/install with datasource remapping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384048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10128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Access Grants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10128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Auto-expiring grants — no manual revocation needed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35040" y="3840480"/>
            <a:ext cx="2697480" cy="9601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44768" y="3931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44768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Import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44768" y="4389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.twbx parsing → workbook + worksheet mapping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install. That's it.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83080"/>
            <a:ext cx="841248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&lt;repo&gt; nexusbi &amp;&amp; cd nexusbi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generate:secrets    # uses Node crypto, no openssl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               # starts Next.js (3000) + Cube.js (4000)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478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 IN v6 (no longer required)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Docker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770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Compose, no images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365760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Redis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8770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LRU cache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365760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MinIO / S3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87705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416052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DuckDB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799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staging tables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16052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4206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OpenSSL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43799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crypto module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4160520"/>
            <a:ext cx="2697480" cy="411480"/>
          </a:xfrm>
          <a:prstGeom prst="rect">
            <a:avLst/>
          </a:prstGeom>
          <a:solidFill>
            <a:srgbClr val="ECFDF5"/>
          </a:solidFill>
          <a:ln w="6350">
            <a:solidFill>
              <a:srgbClr val="047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2062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Python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437997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Node toolchain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today. Production in 30 days.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57200" cy="36576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1993392" cy="2834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37360"/>
            <a:ext cx="1993392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Connect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npm install + Oracle seed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Connect 1-3 data sources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Define first cube schema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admin login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87168" y="1737360"/>
            <a:ext cx="1993392" cy="2834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87168" y="1737360"/>
            <a:ext cx="1993392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9" name="Text 17"/>
          <p:cNvSpPr/>
          <p:nvPr/>
        </p:nvSpPr>
        <p:spPr>
          <a:xfrm>
            <a:off x="2624328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24328" y="2121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24328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Import existing Tableau .twbx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Migrate top 5 dashboards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24328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 up dual-checker workflow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24328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Configure RBAC roles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08576" y="1737360"/>
            <a:ext cx="1993392" cy="2834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08576" y="1737360"/>
            <a:ext cx="1993392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45736" y="2121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45736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Train AUTHORs on workbook editor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45736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Train CHECKERs on review queue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45736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 up audit log 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45736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Configure outbound webhooks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29984" y="1737360"/>
            <a:ext cx="1993392" cy="2834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29984" y="1737360"/>
            <a:ext cx="1993392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5" name="Text 33"/>
          <p:cNvSpPr/>
          <p:nvPr/>
        </p:nvSpPr>
        <p:spPr>
          <a:xfrm>
            <a:off x="6867144" y="1874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67144" y="2121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67144" y="2514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Embed in customer portal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67144" y="29260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Set up scheduled reports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67144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Apply pre-aggregations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67144" y="3749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Production cutover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</a:t>
            </a:r>
            <a:pPr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</a:t>
            </a:r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tools.
</a:t>
            </a:r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</a:t>
            </a:r>
            <a:pPr indent="0" marL="0">
              <a:buNone/>
            </a:pPr>
            <a:r>
              <a:rPr lang="en-US" sz="4400" b="1" i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</a:t>
            </a:r>
            <a:pPr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91440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566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pilot · No commitment · Full platform · Your data · Dedicated engineer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160520"/>
            <a:ext cx="2377440" cy="5029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41605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30-Day Pilot 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4160520"/>
            <a:ext cx="2194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41605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30-min Demo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LOGIN &amp; WORKSPACE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00-log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(NextAuth + bcrypt)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01-hom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DATA CONNECTIONS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02-datasourc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(27 Connectors)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03-api-sourc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Sources → Oracle Staging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WORKBOOK SYSTEM (TABLEAU REPLACEMENT)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04-workbook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Workbooks (Tableau Replacement)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05-workbook-edito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 Editor — Worksheets Tab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STORIES (MULTI-FRAME NARRATIVES)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06-stori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— Multi-Frame Narratives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07-story-detail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886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Detail with Filmstrip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DASHBOARD VIEWING &amp; EDITING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08-dashboard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" y="950976"/>
            <a:ext cx="2715768" cy="1847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82112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09-dash-reven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8688" y="950976"/>
            <a:ext cx="2715768" cy="18470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82112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— Q4 Revenue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9904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/home/claude/screenshots/resized/10-dash-edi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950976"/>
            <a:ext cx="2715768" cy="18470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9904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Builder (Edit Mode)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GOVERNANCE &amp; APPROVAL WORKFLOW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11-review-queu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0896" y="950976"/>
            <a:ext cx="2715768" cy="18470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 (Dual-Checker)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82112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12-replay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8688" y="950976"/>
            <a:ext cx="2715768" cy="18470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82112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Replay Timeline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89904" y="91440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/home/claude/screenshots/resized/13-perf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950976"/>
            <a:ext cx="2715768" cy="18470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89904" y="28803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Scorecard (P95)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EXPLORE · SEMANTIC LAYER · LINEAGE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14-lineag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160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 Graph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15-templat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Marketplace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/home/claude/screenshots/resized/16-explore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1480" y="2926080"/>
            <a:ext cx="3931920" cy="160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Explorer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57200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3" descr="/home/claude/screenshots/resized/17-semantic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2926080"/>
            <a:ext cx="3931920" cy="160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(Cube.js)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ADMIN: USERS · AUDIT · CONFIG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18-admin-us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160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Users &amp; RBAC Matrix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19-admin-audi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Audit Log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/home/claude/screenshots/resized/20-admin-role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1480" y="2926080"/>
            <a:ext cx="3931920" cy="160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Roles &amp; Permissions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57200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3" descr="/home/claude/screenshots/resized/21-admin-platform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2926080"/>
            <a:ext cx="3931920" cy="160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Platform Config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393192" y="301752"/>
            <a:ext cx="109728" cy="109728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37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NexusBI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· NexusBI v6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241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ADMIN: WEBHOOKS · PRE-AGG · TIMED ACCESS · TABLEAU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8" name="Image 0" descr="/home/claude/screenshots/resized/22-admin-webhook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960120"/>
            <a:ext cx="3931920" cy="1600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Outbound Webhooks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572000" y="9144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1" descr="/home/claude/screenshots/resized/23-admin-preagg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960120"/>
            <a:ext cx="3931920" cy="1600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2432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Pre-Aggregations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4" name="Image 2" descr="/home/claude/screenshots/resized/24-admin-time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1480" y="2926080"/>
            <a:ext cx="3931920" cy="1600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Timed Access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4572000" y="288036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7" name="Image 3" descr="/home/claude/screenshots/resized/25-tableau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2926080"/>
            <a:ext cx="3931920" cy="1600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72000" y="459028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Import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NexusBI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NexusBI v6 — Enterprise BI Platform</dc:title>
  <dc:subject>PptxGenJS Presentation</dc:subject>
  <dc:creator>NexusBI</dc:creator>
  <cp:lastModifiedBy>NexusBI</cp:lastModifiedBy>
  <cp:revision>1</cp:revision>
  <dcterms:created xsi:type="dcterms:W3CDTF">2026-04-17T02:32:48Z</dcterms:created>
  <dcterms:modified xsi:type="dcterms:W3CDTF">2026-04-17T02:32:48Z</dcterms:modified>
</cp:coreProperties>
</file>